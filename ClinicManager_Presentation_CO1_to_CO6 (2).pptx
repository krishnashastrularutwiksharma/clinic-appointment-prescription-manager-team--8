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"/>
    <p:sldId id="257" r:id="rId3"/>
    <p:sldId id="258" r:id="rId4"/>
    <p:sldId id="259" r:id="rId5"/>
    <p:sldId id="261" r:id="rId6"/>
    <p:sldId id="264" r:id="rId7"/>
    <p:sldId id="271" r:id="rId8"/>
    <p:sldId id="272" r:id="rId9"/>
    <p:sldId id="273" r:id="rId10"/>
    <p:sldId id="267" r:id="rId11"/>
    <p:sldId id="268" r:id="rId12"/>
    <p:sldId id="269" r:id="rId13"/>
    <p:sldId id="27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" dt="2026-10-16T05:57:39.651"/>
    <p1510:client id="{460D2341-4A9B-2296-3D4F-0D96C2FF16FD}" v="15" dt="2026-10-16T04:30:40.364"/>
    <p1510:client id="{55B368F3-E7CD-4828-92B7-1B71CF0D77FC}" v="37" dt="2026-10-16T03:40:45.436"/>
    <p1510:client id="{86DA703C-F246-3301-F9F6-ED169FC7EA2F}" v="140" dt="2026-10-16T05:20:10.066"/>
    <p1510:client id="{F8A4B60B-5704-85F2-F265-9E57BF875C56}" v="3" dt="2026-10-15T13:53:57.7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rishnashastrularutwiksharma/Clinic-Appointment-Prescription-Manager-Team--8" TargetMode="External"/><Relationship Id="rId2" Type="http://schemas.openxmlformats.org/officeDocument/2006/relationships/hyperlink" Target="https://github.com/SAdit-y-a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119C56-8BE0-CBDE-1C68-1780B7931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23173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738923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32A32"/>
                </a:solidFill>
                <a:latin typeface="Aptos"/>
              </a:defRPr>
            </a:pPr>
            <a:r>
              <a:t>The Clinic Appointment &amp; Prescription Manager is a Java console application for daily clinic activities.</a:t>
            </a:r>
          </a:p>
          <a:p>
            <a:pPr>
              <a:spcAft>
                <a:spcPts val="1000"/>
              </a:spcAft>
              <a:defRPr sz="1900" b="0">
                <a:solidFill>
                  <a:srgbClr val="232A32"/>
                </a:solidFill>
                <a:latin typeface="Aptos"/>
              </a:defRPr>
            </a:pPr>
            <a:r>
              <a:t>It manages doctor registration, patient registration, appointment booking, prescription management, and patient history.</a:t>
            </a:r>
          </a:p>
          <a:p>
            <a:pPr>
              <a:spcAft>
                <a:spcPts val="1000"/>
              </a:spcAft>
              <a:defRPr sz="1900" b="0">
                <a:solidFill>
                  <a:srgbClr val="232A32"/>
                </a:solidFill>
                <a:latin typeface="Aptos"/>
              </a:defRPr>
            </a:pPr>
            <a:r>
              <a:t>The system replaces manual paperwork with a structured process and helps prevent appointment conflicts.</a:t>
            </a:r>
          </a:p>
          <a:p>
            <a:pPr>
              <a:spcAft>
                <a:spcPts val="1000"/>
              </a:spcAft>
              <a:defRPr sz="1900" b="0">
                <a:solidFill>
                  <a:srgbClr val="232A32"/>
                </a:solidFill>
                <a:latin typeface="Aptos"/>
              </a:defRPr>
            </a:pPr>
            <a:r>
              <a:t>The implementation demonstrates the required Java concepts through variables, control statements, methods, and arrays.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690F2B-ADF9-6E1F-A985-D96ED29A0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4657" y="-18620"/>
            <a:ext cx="1686863" cy="798449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Understanding the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32A32"/>
                </a:solidFill>
                <a:latin typeface="Aptos"/>
              </a:defRPr>
            </a:pPr>
            <a:r>
              <a:t>Paper-based clinic records can lead to double-bookings, misplaced prescription information, and difficult history tracking.</a:t>
            </a:r>
          </a:p>
          <a:p>
            <a:pPr>
              <a:spcAft>
                <a:spcPts val="1000"/>
              </a:spcAft>
              <a:defRPr sz="1900" b="0">
                <a:solidFill>
                  <a:srgbClr val="232A32"/>
                </a:solidFill>
                <a:latin typeface="Aptos"/>
              </a:defRPr>
            </a:pPr>
            <a:r>
              <a:t>A single console system is needed to register doctors and patients, schedule appointments, and retrieve visit history.</a:t>
            </a:r>
          </a:p>
          <a:p>
            <a:pPr>
              <a:spcAft>
                <a:spcPts val="1000"/>
              </a:spcAft>
              <a:defRPr sz="1900" b="0">
                <a:solidFill>
                  <a:srgbClr val="232A32"/>
                </a:solidFill>
                <a:latin typeface="Aptos"/>
              </a:defRPr>
            </a:pPr>
            <a:r>
              <a:t>The application validates entries before performing operations.</a:t>
            </a:r>
          </a:p>
          <a:p>
            <a:pPr>
              <a:spcAft>
                <a:spcPts val="1000"/>
              </a:spcAft>
              <a:defRPr sz="1900" b="0">
                <a:solidFill>
                  <a:srgbClr val="232A32"/>
                </a:solidFill>
                <a:latin typeface="Aptos"/>
              </a:defRPr>
            </a:pPr>
            <a:r>
              <a:t>Goal: provide a simple, structured Java solution for common clinic management tasks.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A3035F-32E7-D80C-786A-0481555A9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4657" y="-18620"/>
            <a:ext cx="1686863" cy="798449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CO1 Topics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69AA"/>
                </a:solidFill>
                <a:latin typeface="Aptos"/>
              </a:defRPr>
            </a:pPr>
            <a:r>
              <a:t>Java fundamentals used in the clinic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Variables — store doctor IDs, patient IDs, names, fees, dates and other values.</a:t>
            </a:r>
          </a:p>
          <a:p>
            <a:pPr>
              <a:spcAft>
                <a:spcPts val="10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Data types — int, double, boolean and String.</a:t>
            </a:r>
          </a:p>
          <a:p>
            <a:pPr>
              <a:spcAft>
                <a:spcPts val="10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Constants — final variables for fixed limits or values.</a:t>
            </a:r>
          </a:p>
          <a:p>
            <a:pPr>
              <a:spcAft>
                <a:spcPts val="10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Literals — numeric, string and boolean literal values used in the program.</a:t>
            </a:r>
          </a:p>
          <a:p>
            <a:pPr>
              <a:spcAft>
                <a:spcPts val="10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Operators — arithmetic, relational, logical and assignment operators.</a:t>
            </a:r>
          </a:p>
          <a:p>
            <a:pPr>
              <a:spcAft>
                <a:spcPts val="10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Typecasting — converting values when calculations require a different type.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461F87-0282-3917-6D7E-63AFCE020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4657" y="-18620"/>
            <a:ext cx="1686863" cy="798449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CO2 Topics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69AA"/>
                </a:solidFill>
                <a:latin typeface="Aptos"/>
              </a:defRPr>
            </a:pPr>
            <a:r>
              <a:t>Decision-making and repetition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32A32"/>
                </a:solidFill>
                <a:latin typeface="Aptos"/>
              </a:defRPr>
            </a:pPr>
            <a:r>
              <a:t>Conditional statements: if, if-else, nested if and if-else-if ladder.</a:t>
            </a:r>
          </a:p>
          <a:p>
            <a:pPr>
              <a:spcAft>
                <a:spcPts val="1000"/>
              </a:spcAft>
              <a:defRPr sz="1900" b="0">
                <a:solidFill>
                  <a:srgbClr val="232A32"/>
                </a:solidFill>
                <a:latin typeface="Aptos"/>
              </a:defRPr>
            </a:pPr>
            <a:r>
              <a:t>switch with default and break for menu-based clinic operations.</a:t>
            </a:r>
          </a:p>
          <a:p>
            <a:pPr>
              <a:spcAft>
                <a:spcPts val="1000"/>
              </a:spcAft>
              <a:defRPr sz="1900" b="0">
                <a:solidFill>
                  <a:srgbClr val="232A32"/>
                </a:solidFill>
                <a:latin typeface="Aptos"/>
              </a:defRPr>
            </a:pPr>
            <a:r>
              <a:t>Loops: for, while and do-while for repeated processing.</a:t>
            </a:r>
          </a:p>
          <a:p>
            <a:pPr>
              <a:spcAft>
                <a:spcPts val="1000"/>
              </a:spcAft>
              <a:defRPr sz="1900" b="0">
                <a:solidFill>
                  <a:srgbClr val="232A32"/>
                </a:solidFill>
                <a:latin typeface="Aptos"/>
              </a:defRPr>
            </a:pPr>
            <a:r>
              <a:t>Compound statements: multiple statements grouped inside { }.</a:t>
            </a:r>
          </a:p>
          <a:p>
            <a:pPr>
              <a:spcAft>
                <a:spcPts val="1000"/>
              </a:spcAft>
              <a:defRPr sz="1900" b="0">
                <a:solidFill>
                  <a:srgbClr val="232A32"/>
                </a:solidFill>
                <a:latin typeface="Aptos"/>
              </a:defRPr>
            </a:pPr>
            <a:r>
              <a:t>Nested loops: one loop inside another, useful for processing a 2D schedule.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1FAB78-6108-814E-7DCA-B62D2084E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4657" y="-18620"/>
            <a:ext cx="1686863" cy="798449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CO3 Topics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69AA"/>
                </a:solidFill>
                <a:latin typeface="Aptos"/>
              </a:defRPr>
            </a:pPr>
            <a:r>
              <a:t>Methods and array-based data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A32"/>
                </a:solidFill>
                <a:latin typeface="Aptos"/>
              </a:defRPr>
            </a:pPr>
            <a:r>
              <a:t>Methods — divide the application into reusable tasks.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2"/>
                </a:solidFill>
                <a:latin typeface="Aptos"/>
              </a:defRPr>
            </a:pPr>
            <a:r>
              <a:t>Parameter passing — send IDs, arrays and values into methods.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2"/>
                </a:solidFill>
                <a:latin typeface="Aptos"/>
              </a:defRPr>
            </a:pPr>
            <a:r>
              <a:t>Return values — methods return search results, sums, averages or boolean results.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2"/>
                </a:solidFill>
                <a:latin typeface="Aptos"/>
              </a:defRPr>
            </a:pPr>
            <a:r>
              <a:t>Method overloading — same method name with different parameter lists.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2"/>
                </a:solidFill>
                <a:latin typeface="Aptos"/>
              </a:defRPr>
            </a:pPr>
            <a:r>
              <a:t>Recursion — a method calls itself with a smaller input.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2"/>
                </a:solidFill>
                <a:latin typeface="Aptos"/>
              </a:defRPr>
            </a:pPr>
            <a:r>
              <a:t>1D arrays — store a sequence such as patient IDs.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2"/>
                </a:solidFill>
                <a:latin typeface="Aptos"/>
              </a:defRPr>
            </a:pPr>
            <a:r>
              <a:t>2D arrays — represent rows and columns such as appointment slots.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2"/>
                </a:solidFill>
                <a:latin typeface="Aptos"/>
              </a:defRPr>
            </a:pPr>
            <a:r>
              <a:t>Searching, summation, average and counting — standard array-processing operations.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9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595A44-7865-2141-B71E-5B5C27502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4657" y="-18620"/>
            <a:ext cx="1686863" cy="798449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299971" cy="369332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b="1">
                <a:solidFill>
                  <a:schemeClr val="bg1"/>
                </a:solidFill>
                <a:latin typeface="Aptos Display"/>
              </a:rPr>
              <a:t>CO4 Topics</a:t>
            </a:r>
            <a:endParaRPr lang="en-US" b="1">
              <a:solidFill>
                <a:schemeClr val="bg1"/>
              </a:solidFill>
              <a:latin typeface="Aptos Display"/>
              <a:ea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Classes, objects, relationships and exception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Classes and objects — model clinic entities such as Doctor, Patient and Appointment.</a:t>
            </a:r>
          </a:p>
          <a:p>
            <a:r>
              <a:t>Encapsulation — keep data private and access it through public methods.</a:t>
            </a:r>
          </a:p>
          <a:p>
            <a:r>
              <a:t>Relationships — an Appointment connects a patient with a doctor.</a:t>
            </a:r>
          </a:p>
          <a:p>
            <a:r>
              <a:t>Problem-domain model — represent clinic activities using suitable classes and objects.</a:t>
            </a:r>
          </a:p>
          <a:p>
            <a:r>
              <a:t>Exception handling — use try, catch and finally to handle invalid input or runtime errors.</a:t>
            </a:r>
          </a:p>
          <a:p>
            <a:r>
              <a:t>Example: an Appointment object stores appointment details and validates its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12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20404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chemeClr val="bg1"/>
                </a:solidFill>
              </a:rPr>
              <a:t>CO5 Topics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String processing, algorithms and file input/output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String API — use methods such as length(), equals(), contains() and compareTo().</a:t>
            </a:r>
          </a:p>
          <a:p>
            <a:r>
              <a:t>StringBuilder — build or update text efficiently, such as a patient history summary.</a:t>
            </a:r>
          </a:p>
          <a:p>
            <a:r>
              <a:t>Searching — locate a patient or appointment by ID or name.</a:t>
            </a:r>
          </a:p>
          <a:p>
            <a:r>
              <a:t>Sorting and comparison — arrange records by patient name, ID or appointment date.</a:t>
            </a:r>
          </a:p>
          <a:p>
            <a:r>
              <a:t>File input/output — use file classes/readers/writers to save and load clinic records.</a:t>
            </a:r>
          </a:p>
          <a:p>
            <a:r>
              <a:t>Example: search a patient name, sort the results, and save a report to a file.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13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F618599-288A-0488-A457-DFDBCB061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4657" y="-18620"/>
            <a:ext cx="1686863" cy="798449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20404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chemeClr val="bg1"/>
                </a:solidFill>
              </a:rPr>
              <a:t>CO6 Topics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Collections, lambdas, functional interfaces and streams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Collections — use ArrayList or other collection types to manage doctors, patients and appointments.</a:t>
            </a:r>
          </a:p>
          <a:p>
            <a:r>
              <a:t>Lambda expressions — write short actions for sorting or filtering records.</a:t>
            </a:r>
          </a:p>
          <a:p>
            <a:r>
              <a:t>Functional interfaces — use interfaces such as Predicate or Comparator with lambda expressions.</a:t>
            </a:r>
          </a:p>
          <a:p>
            <a:r>
              <a:t>Stream pipelines — process records with operations such as filter(), sorted() and forEach().</a:t>
            </a:r>
          </a:p>
          <a:p>
            <a:r>
              <a:t>Declarative processing — describe what records to select or display instead of writing every loop.</a:t>
            </a:r>
          </a:p>
          <a:p>
            <a:r>
              <a:t>Example: filter appointments for one doctor, sort them by date, and display the results.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14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1F6D2C-0C70-9A5F-3D1B-014B2205D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4657" y="-18620"/>
            <a:ext cx="1686863" cy="798449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Application Flow &amp; Sample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32A32"/>
                </a:solidFill>
                <a:latin typeface="Aptos"/>
              </a:defRPr>
            </a:pPr>
            <a:r>
              <a:t>1. Register a doctor and store the doctor ID and name.</a:t>
            </a:r>
          </a:p>
          <a:p>
            <a:pPr>
              <a:spcAft>
                <a:spcPts val="1000"/>
              </a:spcAft>
              <a:defRPr sz="1900" b="0">
                <a:solidFill>
                  <a:srgbClr val="232A32"/>
                </a:solidFill>
                <a:latin typeface="Aptos"/>
              </a:defRPr>
            </a:pPr>
            <a:r>
              <a:t>2. Register a patient and store the patient ID and name.</a:t>
            </a:r>
          </a:p>
          <a:p>
            <a:pPr>
              <a:spcAft>
                <a:spcPts val="1000"/>
              </a:spcAft>
              <a:defRPr sz="1900" b="0">
                <a:solidFill>
                  <a:srgbClr val="232A32"/>
                </a:solidFill>
                <a:latin typeface="Aptos"/>
              </a:defRPr>
            </a:pPr>
            <a:r>
              <a:t>3. Validate IDs before booking an appointment.</a:t>
            </a:r>
          </a:p>
          <a:p>
            <a:pPr>
              <a:spcAft>
                <a:spcPts val="1000"/>
              </a:spcAft>
              <a:defRPr sz="1900" b="0">
                <a:solidFill>
                  <a:srgbClr val="232A32"/>
                </a:solidFill>
                <a:latin typeface="Aptos"/>
              </a:defRPr>
            </a:pPr>
            <a:r>
              <a:t>4. Check the selected appointment slot and prevent a conflicting booking.</a:t>
            </a:r>
          </a:p>
          <a:p>
            <a:pPr>
              <a:spcAft>
                <a:spcPts val="1000"/>
              </a:spcAft>
              <a:defRPr sz="1900" b="0">
                <a:solidFill>
                  <a:srgbClr val="232A32"/>
                </a:solidFill>
                <a:latin typeface="Aptos"/>
              </a:defRPr>
            </a:pPr>
            <a:r>
              <a:t>5. Display patient history and appointment status.</a:t>
            </a:r>
          </a:p>
          <a:p>
            <a:pPr>
              <a:spcAft>
                <a:spcPts val="1000"/>
              </a:spcAft>
              <a:defRPr sz="1900" b="0">
                <a:solidFill>
                  <a:srgbClr val="232A32"/>
                </a:solidFill>
                <a:latin typeface="Aptos"/>
              </a:defRPr>
            </a:pPr>
            <a:r>
              <a:t>6. Cancel an appointment when required.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5CEA2C-E4B2-E7AE-8F39-74A6601C4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4657" y="-18620"/>
            <a:ext cx="1686863" cy="798449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25596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  <a:defRPr sz="1900" b="0">
                <a:solidFill>
                  <a:srgbClr val="232A32"/>
                </a:solidFill>
                <a:latin typeface="Aptos"/>
              </a:defRPr>
            </a:pPr>
            <a:r>
              <a:rPr lang="en-US">
                <a:ea typeface="+mn-lt"/>
                <a:cs typeface="+mn-lt"/>
              </a:rPr>
              <a:t>Developed a Java-based Clinic Appointment &amp; Prescription Manager.</a:t>
            </a:r>
            <a:endParaRPr lang="en-US"/>
          </a:p>
          <a:p>
            <a:pPr marL="285750" indent="-285750">
              <a:buFont typeface="Arial"/>
              <a:buChar char="•"/>
              <a:defRPr sz="1900" b="0">
                <a:solidFill>
                  <a:srgbClr val="232A32"/>
                </a:solidFill>
                <a:latin typeface="Aptos"/>
              </a:defRPr>
            </a:pPr>
            <a:r>
              <a:rPr lang="en-US">
                <a:ea typeface="+mn-lt"/>
                <a:cs typeface="+mn-lt"/>
              </a:rPr>
              <a:t>Simplifies doctor and patient registration, appointment booking, and prescription management.</a:t>
            </a:r>
            <a:endParaRPr lang="en-US"/>
          </a:p>
          <a:p>
            <a:pPr marL="285750" indent="-285750">
              <a:buFont typeface="Arial"/>
              <a:buChar char="•"/>
              <a:defRPr sz="1900" b="0">
                <a:solidFill>
                  <a:srgbClr val="232A32"/>
                </a:solidFill>
                <a:latin typeface="Aptos"/>
              </a:defRPr>
            </a:pPr>
            <a:r>
              <a:rPr lang="en-US">
                <a:ea typeface="+mn-lt"/>
                <a:cs typeface="+mn-lt"/>
              </a:rPr>
              <a:t>Reduces manual paperwork and helps prevent appointment conflicts.</a:t>
            </a:r>
            <a:endParaRPr lang="en-US"/>
          </a:p>
          <a:p>
            <a:pPr marL="285750" indent="-285750">
              <a:buFont typeface="Arial"/>
              <a:buChar char="•"/>
              <a:defRPr sz="1900" b="0">
                <a:solidFill>
                  <a:srgbClr val="232A32"/>
                </a:solidFill>
                <a:latin typeface="Aptos"/>
              </a:defRPr>
            </a:pPr>
            <a:r>
              <a:rPr lang="en-US">
                <a:ea typeface="+mn-lt"/>
                <a:cs typeface="+mn-lt"/>
              </a:rPr>
              <a:t>Demonstrates Java concepts from CO1 to CO6, including OOP, exception handling, file handling, and collections.</a:t>
            </a:r>
            <a:endParaRPr lang="en-US"/>
          </a:p>
          <a:p>
            <a:pPr marL="285750" indent="-285750">
              <a:buFont typeface="Arial"/>
              <a:buChar char="•"/>
              <a:defRPr sz="1900" b="0">
                <a:solidFill>
                  <a:srgbClr val="232A32"/>
                </a:solidFill>
                <a:latin typeface="Aptos"/>
              </a:defRPr>
            </a:pPr>
            <a:r>
              <a:rPr lang="en-US">
                <a:ea typeface="+mn-lt"/>
                <a:cs typeface="+mn-lt"/>
              </a:rPr>
              <a:t>Provides a foundation for a more efficient and organized clinic management system.</a:t>
            </a:r>
          </a:p>
          <a:p>
            <a:pPr>
              <a:spcAft>
                <a:spcPts val="1000"/>
              </a:spcAft>
              <a:defRPr sz="1900" b="0">
                <a:solidFill>
                  <a:srgbClr val="232A32"/>
                </a:solidFill>
                <a:latin typeface="Aptos"/>
              </a:defRPr>
            </a:pPr>
            <a:endParaRPr/>
          </a:p>
          <a:p>
            <a:pPr>
              <a:spcAft>
                <a:spcPts val="1000"/>
              </a:spcAft>
              <a:defRPr sz="1900" b="0">
                <a:solidFill>
                  <a:srgbClr val="232A32"/>
                </a:solidFill>
                <a:latin typeface="Aptos"/>
              </a:defRPr>
            </a:pP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63C4D5-9187-AD15-7952-C2562BFE6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4657" y="-18620"/>
            <a:ext cx="1686863" cy="798449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GitHub Link &amp; Geo-Tagged Photo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2236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GitHub Repository:</a:t>
            </a:r>
          </a:p>
          <a:p>
            <a:pPr>
              <a:spcAft>
                <a:spcPts val="10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rPr lang="en-IN"/>
              <a:t>S. Aditya = </a:t>
            </a:r>
            <a:r>
              <a:rPr lang="en-IN">
                <a:solidFill>
                  <a:srgbClr val="232A32"/>
                </a:solidFill>
                <a:latin typeface="Aptos"/>
                <a:hlinkClick r:id="rId2"/>
              </a:rPr>
              <a:t>SAdit-y-a · GitHub</a:t>
            </a:r>
            <a:endParaRPr lang="en-IN">
              <a:solidFill>
                <a:srgbClr val="232A32"/>
              </a:solidFill>
              <a:latin typeface="Aptos"/>
            </a:endParaRPr>
          </a:p>
          <a:p>
            <a:pPr>
              <a:spcAft>
                <a:spcPts val="10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rPr lang="en-IN"/>
              <a:t>K.S. Rutwik Sharma = </a:t>
            </a:r>
            <a:r>
              <a:rPr lang="en-IN">
                <a:hlinkClick r:id="rId3"/>
              </a:rPr>
              <a:t>https://github.com/krishnashastrularutwiksharma/Clinic-Appointment-Prescription-Manager-Team--8</a:t>
            </a:r>
            <a:endParaRPr lang="en-IN"/>
          </a:p>
          <a:p>
            <a:pPr>
              <a:spcAft>
                <a:spcPts val="1000"/>
              </a:spcAft>
              <a:defRPr sz="1800" b="0">
                <a:solidFill>
                  <a:srgbClr val="232A32"/>
                </a:solidFill>
                <a:latin typeface="Aptos"/>
              </a:defRPr>
            </a:pPr>
            <a:r>
              <a:t>Geo-Tagged Photo:</a:t>
            </a:r>
          </a:p>
          <a:p>
            <a:pPr lvl="1">
              <a:spcAft>
                <a:spcPts val="1000"/>
              </a:spcAft>
              <a:defRPr sz="1600">
                <a:solidFill>
                  <a:srgbClr val="232A32"/>
                </a:solidFill>
                <a:latin typeface="Aptos"/>
              </a:defRPr>
            </a:pPr>
            <a:r>
              <a:rPr lang="en-US"/>
              <a:t>Add a location-stamped team photo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ECC6C0-9842-B075-EB96-E51CCC889E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29000"/>
            <a:ext cx="4590143" cy="34426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BE4915-B0AF-2ABC-CA57-791A7991E8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4657" y="-18620"/>
            <a:ext cx="1686863" cy="798449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,500+ Thank You Doctor Stock Photos and Royalty-Free Pictures - iStock">
            <a:extLst>
              <a:ext uri="{FF2B5EF4-FFF2-40B4-BE49-F238E27FC236}">
                <a16:creationId xmlns:a16="http://schemas.microsoft.com/office/drawing/2014/main" id="{2F00C298-2E56-4B90-BBD8-031E1A908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310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8</cp:revision>
  <dcterms:created xsi:type="dcterms:W3CDTF">2013-01-27T09:14:16Z</dcterms:created>
  <dcterms:modified xsi:type="dcterms:W3CDTF">2026-10-16T05:59:59Z</dcterms:modified>
  <cp:category/>
</cp:coreProperties>
</file>